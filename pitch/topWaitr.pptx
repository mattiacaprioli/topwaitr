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di presentazione di topWaitr per ristoratori/aziende. Tema premium scuro con accento oro coerente col design system dell'app.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dolore del ristoratore: coperture last-minute, turnover, gestione manuale di ore/presenze.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pilastri: staff interno, marketplace extra, reputazione.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Marketplace a due lati: cameriere e ristoratore.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4 funzioni core lato gestione personale (candidate al piano Pro).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Recensioni = fulcro. Cliente finale recensisce via QR/sito. Rating portabile. Gratuito come acquisizione.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Marketplace + chat realtime (M6) + push notifications (M7, verificate su device).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Freemium: marketplace/recensioni gratis (acquisizione), gestione personale = Pro a pagamento dal ristoratore. Nessuno Stripe nell'MVP.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M0-M7 completati; M8 store submission è la prossima milestone. Piano Pro pronto per la monetizzazione.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Chiusura: call to action per ristoratori pilota. Sostituire con contatti reali prima della presentazione.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14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D4A24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754880" cy="4754880"/>
          </a:xfrm>
          <a:prstGeom prst="ellipse">
            <a:avLst/>
          </a:prstGeom>
          <a:solidFill>
            <a:srgbClr val="D4A24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</a:t>
            </a:r>
            <a:pPr algn="l" indent="0" marL="0">
              <a:buNone/>
            </a:pPr>
            <a:r>
              <a:rPr lang="en-US" sz="60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41248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marketplace dei turni per la ristorazione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Camerieri e ristoratori, connessi. Organizza il tuo staff, copri gli extra all'ultimo minuto e costruisci una reputazione che vale.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PROGETTO  ·  MERCATO ITALIANO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Gestire il personale di sala è un lavoro a parte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E1826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606040"/>
            <a:ext cx="594360" cy="59436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814" y="27605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all'ultimo minuto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806440" y="249631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cameriere dà forfait la sera stessa e trovare un sostituto affidabile diventa un problema.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65760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E1826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931920"/>
            <a:ext cx="594360" cy="59436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14" y="40864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3858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alto, poca memoria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806440" y="382219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affidabile? Chi ha già lavorato bene? L'informazione vive su fogli, chat e teste diverse.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98348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1E1826"/>
          </a:solidFill>
          <a:ln/>
        </p:spPr>
      </p:sp>
      <p:sp>
        <p:nvSpPr>
          <p:cNvPr id="15" name="Shape 11"/>
          <p:cNvSpPr/>
          <p:nvPr/>
        </p:nvSpPr>
        <p:spPr>
          <a:xfrm>
            <a:off x="1097280" y="5257800"/>
            <a:ext cx="594360" cy="59436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14" y="54123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5184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e presenze a mano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5806440" y="514807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Presenze su carta, conteggio ore per il commercialista, copertura per ruolo: tutto manuale.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E18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app per 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organizzare, 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coprire 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farti scegliere</a:t>
            </a:r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topWaitr unisce la gestione del tuo staff interno al marketplace degli extra, con la reputazione dei camerieri al centro.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05156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4261" y="1217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4652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staff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46520" y="14356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Organico, turni interni, conferme e copertura per ruolo — in un colpo d'occhio.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577840" y="274320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261" y="29096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697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su richiesta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446520" y="312724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Pubblichi un turno, i camerieri si candidano, tu accetti. Nessun giro di telefonate.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577840" y="443484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261" y="46012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4652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Reputazione reale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446520" y="481888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dai clienti finali: scegli chi ha già dimostrato di valere.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FUNZIONA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lati, un ecosistema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1E1826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240280"/>
            <a:ext cx="731520" cy="73152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635" y="24304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2128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cameriere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148840" y="26334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turni · costruisce il CV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36499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2644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e si candida ai turni pubblicati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9319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8313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con esperienze e recensioni clienti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49884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0200" y="4398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i turni interni del suo locale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5065776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00200" y="49651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diretta e notifiche in tempo reale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199632" y="182880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1E1826"/>
          </a:solidFill>
          <a:ln/>
        </p:spPr>
      </p:sp>
      <p:sp>
        <p:nvSpPr>
          <p:cNvPr id="18" name="Shape 11"/>
          <p:cNvSpPr/>
          <p:nvPr/>
        </p:nvSpPr>
        <p:spPr>
          <a:xfrm>
            <a:off x="6611112" y="2240280"/>
            <a:ext cx="731520" cy="731520"/>
          </a:xfrm>
          <a:prstGeom prst="ellipse">
            <a:avLst/>
          </a:prstGeom>
          <a:solidFill>
            <a:srgbClr val="E9CB8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1307" y="2430475"/>
            <a:ext cx="351130" cy="35113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525512" y="221284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ristoratore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7525512" y="26334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9C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organizza · pubblica · sceglie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3364992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76872" y="326440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l'organico e i turni interni</a:t>
            </a:r>
            <a:endParaRPr lang="en-US" sz="13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3931920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76872" y="383133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un extra e valuta i candidati</a:t>
            </a:r>
            <a:endParaRPr lang="en-US" sz="13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498848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76872" y="4398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 ore, presenze e copertura</a:t>
            </a:r>
            <a:endParaRPr lang="en-US" sz="13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6832" y="5065776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76872" y="49651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 in base a reputazione e affidabilità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IL RISTORATORE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cassetta degli attrezzi per la sala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241D2E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2212848"/>
            <a:ext cx="658368" cy="658368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8184" y="238402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286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mio staff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07008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Organico con o senza account: schede complete del tuo team, sempre a portata.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82880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241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739128" y="2212848"/>
            <a:ext cx="658368" cy="658368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304" y="238402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286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 interni &amp; extra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39128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Chiami il tuo staff o cerchi un extra sul marketplace — stessa schermata.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16052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241D2E"/>
          </a:solidFill>
          <a:ln/>
        </p:spPr>
      </p:sp>
      <p:sp>
        <p:nvSpPr>
          <p:cNvPr id="15" name="Shape 11"/>
          <p:cNvSpPr/>
          <p:nvPr/>
        </p:nvSpPr>
        <p:spPr>
          <a:xfrm>
            <a:off x="1207008" y="4544568"/>
            <a:ext cx="658368" cy="658368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184" y="471574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per ruolo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207008" y="5349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Camerieri + 1 Sommelier": vedi in tempo reale cosa manca a ogni turno.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416052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241D2E"/>
          </a:solidFill>
          <a:ln/>
        </p:spPr>
      </p:sp>
      <p:sp>
        <p:nvSpPr>
          <p:cNvPr id="20" name="Shape 15"/>
          <p:cNvSpPr/>
          <p:nvPr/>
        </p:nvSpPr>
        <p:spPr>
          <a:xfrm>
            <a:off x="6739128" y="4544568"/>
            <a:ext cx="658368" cy="658368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304" y="471574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Ore, presenze &amp; export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739128" y="5349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Presente/assente, ore lavorate, riepilogo mensile ed export PDF/CSV per il commercialista.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82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FULCRO DEL PRODOTTO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reputazione che il cameriere si porta dietro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i clienti finali a lasciare la recensione — non il gestore. Ogni cameriere accumula un rating reale e portabile: la prova che ha già lavorato bene, ovunque.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30352" cy="530352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52" y="4298412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1056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scansiona il QR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63040" y="44622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sito web dedicato, nessuna app da installare.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4983480"/>
            <a:ext cx="530352" cy="530352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852" y="512137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9286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Lascia una recensione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63040" y="52852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e tag sul servizio ricevuto al tavolo.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5806440"/>
            <a:ext cx="530352" cy="530352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52" y="5944332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57515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rating cresce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463040" y="61081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Reputazione verificabile e sempre aggiornata.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818120" y="960120"/>
            <a:ext cx="3566160" cy="4937760"/>
          </a:xfrm>
          <a:prstGeom prst="roundRect">
            <a:avLst>
              <a:gd name="adj" fmla="val 3590"/>
            </a:avLst>
          </a:prstGeom>
          <a:solidFill>
            <a:srgbClr val="241D2E"/>
          </a:solidFill>
          <a:ln/>
        </p:spPr>
      </p:sp>
      <p:sp>
        <p:nvSpPr>
          <p:cNvPr id="19" name="Text 14"/>
          <p:cNvSpPr/>
          <p:nvPr/>
        </p:nvSpPr>
        <p:spPr>
          <a:xfrm>
            <a:off x="781812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4.9</a:t>
            </a:r>
            <a:endParaRPr lang="en-US" sz="5800" dirty="0"/>
          </a:p>
        </p:txBody>
      </p:sp>
      <p:sp>
        <p:nvSpPr>
          <p:cNvPr id="20" name="Text 15"/>
          <p:cNvSpPr/>
          <p:nvPr/>
        </p:nvSpPr>
        <p:spPr>
          <a:xfrm>
            <a:off x="781812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medio del cameriere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366760" y="3200400"/>
            <a:ext cx="2468880" cy="0"/>
          </a:xfrm>
          <a:prstGeom prst="line">
            <a:avLst/>
          </a:prstGeom>
          <a:noFill/>
          <a:ln w="12700">
            <a:solidFill>
              <a:srgbClr val="352C4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38160" y="34290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per sempre.
</a:t>
            </a:r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e marketplace sono l'esca che porta camerieri e ristoratori sulla piattaforma.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CONNESSI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Comunicazione in tempo reale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1826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468880"/>
            <a:ext cx="868680" cy="8686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017" y="26947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turni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34440" y="4114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 un extra in pochi tocchi: ruolo, giorno, compenso. I candidati arrivano a te.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1826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2468880"/>
            <a:ext cx="868680" cy="8686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057" y="26947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integrata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983480" y="4114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conversazione per coppia, stile messaggistica, per accordarti prima del turno.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32104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1826"/>
          </a:solidFill>
          <a:ln/>
        </p:spPr>
      </p:sp>
      <p:sp>
        <p:nvSpPr>
          <p:cNvPr id="15" name="Shape 11"/>
          <p:cNvSpPr/>
          <p:nvPr/>
        </p:nvSpPr>
        <p:spPr>
          <a:xfrm>
            <a:off x="8778240" y="2468880"/>
            <a:ext cx="868680" cy="8686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097" y="26947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3252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push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732520" y="4114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Nuova candidatura, turno assegnato, messaggio: avvisi istantanei, anche ad app chiusa.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verificate end-to-end su dispositivo reale · realtime nativo su candidature, messaggi e turni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DI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Gratis per crescere, Pro per gestire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66360" cy="4160520"/>
          </a:xfrm>
          <a:prstGeom prst="roundRect">
            <a:avLst>
              <a:gd name="adj" fmla="val 3077"/>
            </a:avLst>
          </a:prstGeom>
          <a:solidFill>
            <a:srgbClr val="1E1826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286000"/>
            <a:ext cx="685800" cy="685800"/>
          </a:xfrm>
          <a:prstGeom prst="ellipse">
            <a:avLst/>
          </a:prstGeom>
          <a:solidFill>
            <a:srgbClr val="8FB9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24643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8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L'ESCA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103120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Reputazione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51129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4198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e pubblica turni extra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07822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9867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dai clienti finali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64515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0200" y="4553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 notifiche in tempo reale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521208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00200" y="5120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Profilo e CV del cameriere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6199632" y="1874520"/>
            <a:ext cx="5166360" cy="4160520"/>
          </a:xfrm>
          <a:prstGeom prst="roundRect">
            <a:avLst>
              <a:gd name="adj" fmla="val 3077"/>
            </a:avLst>
          </a:prstGeom>
          <a:solidFill>
            <a:srgbClr val="241D2E"/>
          </a:solidFill>
          <a:ln w="19050">
            <a:solidFill>
              <a:srgbClr val="D4A24C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611112" y="2286000"/>
            <a:ext cx="685800" cy="68580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9420" y="246430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79792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IL RICAVO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7479792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del personale</a:t>
            </a:r>
            <a:endParaRPr lang="en-US" sz="1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3511296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76872" y="34198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Ore, presenze ed export contabile</a:t>
            </a:r>
            <a:endParaRPr lang="en-US" sz="13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4078224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76872" y="39867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e fabbisogno per ruolo</a:t>
            </a:r>
            <a:endParaRPr lang="en-US" sz="13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645152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76872" y="45537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e affidabilità dello staff</a:t>
            </a:r>
            <a:endParaRPr lang="en-US" sz="13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6832" y="5212080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76872" y="5120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Strumenti avanzati per il ristoratore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Telaio Pro già costruito · monetizzazione e pagamenti attivabili quando il mercato è pronto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 PUNTO SIAMO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Prodotto costruito, pronto allo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6492240" cy="4160520"/>
          </a:xfrm>
          <a:prstGeom prst="roundRect">
            <a:avLst>
              <a:gd name="adj" fmla="val 2637"/>
            </a:avLst>
          </a:prstGeom>
          <a:solidFill>
            <a:srgbClr val="1E1826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103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Fatto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157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62432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dati &amp; sicurezza (RLS)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7157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36008" y="262432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e autenticazione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76732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72768" y="36758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Flusso ristoratore &amp; cameriere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76732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6008" y="36758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+ reputazione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818888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72768" y="47274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realtime</a:t>
            </a:r>
            <a:endParaRPr lang="en-US" sz="13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4818888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636008" y="47274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push (verificate su device)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7543800" y="1874520"/>
            <a:ext cx="3794760" cy="4160520"/>
          </a:xfrm>
          <a:prstGeom prst="roundRect">
            <a:avLst>
              <a:gd name="adj" fmla="val 2892"/>
            </a:avLst>
          </a:prstGeom>
          <a:solidFill>
            <a:srgbClr val="241D2E"/>
          </a:solidFill>
          <a:ln w="15240">
            <a:solidFill>
              <a:srgbClr val="D4A24C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7863840" y="2148840"/>
            <a:ext cx="640080" cy="64008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0261" y="2315261"/>
            <a:ext cx="307238" cy="30723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6868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</a:t>
            </a:r>
            <a:endParaRPr lang="en-US" sz="1800" dirty="0"/>
          </a:p>
        </p:txBody>
      </p:sp>
      <p:sp>
        <p:nvSpPr>
          <p:cNvPr id="22" name="Text 13"/>
          <p:cNvSpPr/>
          <p:nvPr/>
        </p:nvSpPr>
        <p:spPr>
          <a:xfrm>
            <a:off x="7863840" y="32461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Pubblicazione su App Store e Play Store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7863840" y="41148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827532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dei primi locali pilota</a:t>
            </a:r>
            <a:endParaRPr lang="en-US" sz="1350" dirty="0"/>
          </a:p>
        </p:txBody>
      </p:sp>
      <p:sp>
        <p:nvSpPr>
          <p:cNvPr id="26" name="Text 17"/>
          <p:cNvSpPr/>
          <p:nvPr/>
        </p:nvSpPr>
        <p:spPr>
          <a:xfrm>
            <a:off x="7863840" y="4983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8275320" y="49834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del piano Pro &amp; pagamenti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5943600" cy="5943600"/>
          </a:xfrm>
          <a:prstGeom prst="ellipse">
            <a:avLst/>
          </a:prstGeom>
          <a:solidFill>
            <a:srgbClr val="D4A24C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 il tuo locale su </a:t>
            </a:r>
            <a:pPr algn="l" indent="0" marL="0">
              <a:buNone/>
            </a:pPr>
            <a:r>
              <a:rPr lang="en-US" sz="4200" b="1" dirty="0">
                <a:solidFill>
                  <a:srgbClr val="F4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</a:t>
            </a:r>
            <a:pPr algn="l" indent="0" marL="0">
              <a:buNone/>
            </a:pPr>
            <a:r>
              <a:rPr lang="en-US" sz="42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41248" y="3429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A7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Organizza lo staff, copri gli extra e scegli chi ha già dimostrato di valere. Cerchiamo ristoratori pilota per la fase di lancio.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4800600"/>
            <a:ext cx="457200" cy="45720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919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828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Parliamone  ·  demo su richiesta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2026-07-22T16:11:18Z</dcterms:created>
  <dcterms:modified xsi:type="dcterms:W3CDTF">2026-07-22T16:11:18Z</dcterms:modified>
</cp:coreProperties>
</file>